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D6A4F"/>
                </a:solidFill>
                <a:latin typeface="Arial"/>
              </a:rPr>
              <a:t>年報智慧問答系統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C757D"/>
                </a:solidFill>
                <a:latin typeface="Arial"/>
              </a:rPr>
              <a:t>Retrieval-Augmented Generation for Financial Annual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108960"/>
            <a:ext cx="2743200" cy="13716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46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8D2A"/>
                </a:solidFill>
                <a:latin typeface="Arial"/>
              </a:rPr>
              <a:t>93.3%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Arial"/>
              </a:rPr>
              <a:t>Overall Accuracy (28/30)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108960"/>
            <a:ext cx="2743200" cy="13716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3246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Arial"/>
              </a:rPr>
              <a:t>Basic Questions (19/19)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08960"/>
            <a:ext cx="2743200" cy="13716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Arial"/>
              </a:rPr>
              <a:t>Hallucination Guard (3/3)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[您的姓名]   |   富邦金控數據科學組 MA 甄選   | 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Fubon Financial Holdings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以 RAG 架構將 265 頁年報轉化為即時問答，達 93.3% 準確率與 80-90% 效率提升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系統評估結果（2024 富邦金控年報，30 題官方測試集）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Arial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富邦金控年報 265+ 頁，涵蓋 10+ 子公司（人壽、銀行、證券、產險等），合併與子公司數據交織於不同章節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Arial"/>
              </a:rPr>
              <a:t>Complication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688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人工查閱單次耗時約 30 分鐘、合併報表與子公司數據易混淆（如「稅後淨利」歸屬不清）、LLM 直接回答存在幻覺風險（捏造數字或引用錯誤公司）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Arial"/>
              </a:rP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4747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建立 RAG 年報問答系統，以三通道混合檢索 + LLM Reranking + 雙層幻覺防護達成 93.3% 準確率，並可擴展至多金控比較分析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Arial"/>
              </a:rPr>
              <a:t>Key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8D2A"/>
                </a:solidFill>
                <a:latin typeface="Arial"/>
              </a:rPr>
              <a:t>93.3%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Overall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Basic (19/19)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43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92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Hallucination (3/3)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338328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 b="1">
                <a:solidFill>
                  <a:srgbClr val="2D6A4F"/>
                </a:solidFill>
                <a:latin typeface="Arial"/>
              </a:rPr>
              <a:t>三通道混合檢索</a:t>
            </a:r>
          </a:p>
          <a:p>
            <a:r>
              <a:rPr sz="1000" b="0">
                <a:solidFill>
                  <a:srgbClr val="6C757D"/>
                </a:solidFill>
                <a:latin typeface="Arial"/>
              </a:rPr>
              <a:t>FAISS + BM25 + Image
Entity-Aware Boosting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892040"/>
            <a:ext cx="338328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 b="1">
                <a:solidFill>
                  <a:srgbClr val="2D6A4F"/>
                </a:solidFill>
                <a:latin typeface="Arial"/>
              </a:rPr>
              <a:t>LLM Reranking</a:t>
            </a:r>
          </a:p>
          <a:p>
            <a:r>
              <a:rPr sz="1000" b="0">
                <a:solidFill>
                  <a:srgbClr val="6C757D"/>
                </a:solidFill>
                <a:latin typeface="Arial"/>
              </a:rPr>
              <a:t>Gemini Cross-Encoder
零本地記憶體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892040"/>
            <a:ext cx="3383280" cy="11887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 b="1">
                <a:solidFill>
                  <a:srgbClr val="2D6A4F"/>
                </a:solidFill>
                <a:latin typeface="Arial"/>
              </a:rPr>
              <a:t>雙層幻覺防護</a:t>
            </a:r>
          </a:p>
          <a:p>
            <a:r>
              <a:rPr sz="1000" b="0">
                <a:solidFill>
                  <a:srgbClr val="6C757D"/>
                </a:solidFill>
                <a:latin typeface="Arial"/>
              </a:rPr>
              <a:t>Relevance + Grounding
競爭對手自動攔截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業務背景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年報查閱依賴人工翻頁，每次查詢平均耗時 30 分鐘，亟需 AI 提效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富邦金控 113 年度股東會年報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29200" cy="4389120"/>
          </a:xfrm>
          <a:prstGeom prst="roundRect">
            <a:avLst/>
          </a:prstGeom>
          <a:solidFill>
            <a:srgbClr val="FD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Arial"/>
              </a:rPr>
              <a:t>現狀痛點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265+ 頁 — 單份年報資料量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10+ 子公司 — 數據交織在不同章節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~30 分鐘 — 單次人工查詢耗時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合併 vs 子公司 — 「稅後淨利」歸屬易混淆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跨頁表格、旋轉頁面 — 傳統 OCR 無法處理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029200" cy="4389120"/>
          </a:xfrm>
          <a:prstGeom prst="roundRect">
            <a:avLst/>
          </a:prstGeom>
          <a:solidFill>
            <a:srgbClr val="E8F8ED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AI 機會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LLM + RAG 技術成熟，可理解自然語言問題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金融年報結構固定，適合建立專屬知識庫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一次建檔、反覆查詢，邊際成本趨近於零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從人工翻頁 → AI 秒級回答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效率提升 80-90%，準確率可量化追蹤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728655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目標：建立準確、可追溯、防幻覺的年報智慧問答系統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Exhibit 1  |  產品展示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七階段智慧管線將 PDF 年報轉化為可追溯的即時答案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828800" cy="1005840"/>
          </a:xfrm>
          <a:prstGeom prst="roundRect">
            <a:avLst/>
          </a:prstGeom>
          <a:solidFill>
            <a:srgbClr val="2D6A4F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PDF 解析
PyMuPDF + Vision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011680"/>
            <a:ext cx="45720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737360"/>
            <a:ext cx="1828800" cy="10058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B1B1B"/>
                </a:solidFill>
                <a:latin typeface="Arial"/>
              </a:rPr>
              <a:t>TOC 分段
+ 向量索引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011680"/>
            <a:ext cx="45720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737360"/>
            <a:ext cx="1828800" cy="10058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B1B1B"/>
                </a:solidFill>
                <a:latin typeface="Arial"/>
              </a:rPr>
              <a:t>三通道
混合檢索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011680"/>
            <a:ext cx="45720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737360"/>
            <a:ext cx="1828800" cy="10058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B1B1B"/>
                </a:solidFill>
                <a:latin typeface="Arial"/>
              </a:rPr>
              <a:t>LLM
重排序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20" y="2011680"/>
            <a:ext cx="45720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1737360"/>
            <a:ext cx="1828800" cy="1005840"/>
          </a:xfrm>
          <a:prstGeom prst="roundRect">
            <a:avLst/>
          </a:prstGeom>
          <a:solidFill>
            <a:srgbClr val="2D6A4F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答案生成
+ 幻覺防護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3383280" cy="2194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即時問答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自然語言提問，秒級回覆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答案附頁碼來源，可追溯驗證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支援查找、歸納、計算等題型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37560"/>
            <a:ext cx="3383280" cy="2194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幻覺防護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雙層檢測：相關度閾值 + 答案錨定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競爭對手自動攔截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風險等級指示（Low / Medium / High）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337560"/>
            <a:ext cx="3383280" cy="2194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多文件支援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同時上傳多份年報 PDF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自動合併索引、標記文件來源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跨年度 / 跨公司比較分析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Arial"/>
              </a:rPr>
              <a:t>Tech:  Python  |  LangChain  |  FAISS  |  Gemini 3 Flash  |  gemini-embedding-2-preview  |  Streamlit  |  jieba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Exhibit 2  |  延伸設計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三項延伸機制解決金控年報的獨特挑戰，推動準確率達 93.3%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三通道混合檢索
+ Entity-Aware Boosting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FAISS 語意 + BM25 關鍵字 + 圖片語意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RRF 融合排序（K=60）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實體感知：合併 ×1.5 / 非相關 ×0.7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金融 jieba 詞庫（8 類 120+ 術語）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D6A4F"/>
                </a:solidFill>
                <a:latin typeface="Arial"/>
              </a:rPr>
              <a:t>→ 正確區分「金控合併淨利」vs「子公司淨利」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LLM Cross-Encoder
Reranking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20 候選 → Gemini 排序 → Top 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零本地記憶體，純雲端 API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失敗自動 fallback 原始排序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比傳統 Cross-Encoder 更靈活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D6A4F"/>
                </a:solidFill>
                <a:latin typeface="Arial"/>
              </a:rPr>
              <a:t>→ 無需 GPU，可直接部署於現有雲端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383280" cy="4480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Dual Hallucination
Guard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L1: FAISS L2 &gt; 1.2 → 自動拒答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L2: LLM 逐句驗證文件依據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Scope: 國泰/中信/玉山自動攔截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風險等級：Low / Medium / High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D6A4F"/>
                </a:solidFill>
                <a:latin typeface="Arial"/>
              </a:rPr>
              <a:t>→ 100% 幻覺攔截，防止錯誤數據外流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Exhibit 3  |  成果驗證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30 題官方測試達 93.3%：基本題全對、幻覺檢測零漏網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系統評估結果（30 題官方測試集，LLM Judge 自動評分）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88D2A"/>
                </a:solidFill>
                <a:latin typeface="Arial"/>
              </a:rPr>
              <a:t>93.3%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Arial"/>
              </a:rPr>
              <a:t>Overall Accuracy (28/30)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Basic (19/19)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757D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Hallucination (3/3)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0" y="1691640"/>
          <a:ext cx="7772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類別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題數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答對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準確率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題型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基本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簡易查找、複合查找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加分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前後關聯、歸納資訊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困難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Arial"/>
                        </a:rPr>
                        <a:t>幻覺檢測、計算推理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總計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93.3%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0" y="4069080"/>
            <a:ext cx="7772400" cy="2560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100" b="1">
                <a:solidFill>
                  <a:srgbClr val="2D6A4F"/>
                </a:solidFill>
                <a:latin typeface="Arial"/>
              </a:rPr>
              <a:t>範例 — Q12 減碳比例計算（困難題）</a:t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>Q：計算 2024 年度營運排放總量相較 2023 年度的減碳比例</a:t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/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>A：2023 年：8,949 + 50,091 = 59,040 噸</a:t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>    2024 年：4,026 + 41,568 = 45,594 噸</a:t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>    減碳比例 = (59,040 − 45,594) / 59,040 = 22.77%    ✓</a:t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/>
            </a:r>
          </a:p>
          <a:p>
            <a:r>
              <a:rPr sz="1000" b="0">
                <a:solidFill>
                  <a:srgbClr val="1B1B1B"/>
                </a:solidFill>
                <a:latin typeface="Arial"/>
              </a:rPr>
              <a:t>    來源：第 108、109 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延伸功能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多文件合併查詢讓使用者直接提問跨年度問題，取代手動翻閱比對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91640"/>
            <a:ext cx="2560320" cy="10058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B1B"/>
                </a:solidFill>
                <a:latin typeface="Arial"/>
              </a:rPr>
              <a:t>Step 1
上傳多份
年報 PDF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1965960"/>
            <a:ext cx="109728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691640"/>
            <a:ext cx="2560320" cy="10058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1B1B"/>
                </a:solidFill>
                <a:latin typeface="Arial"/>
              </a:rPr>
              <a:t>Step 2
分別建索引
合併向量庫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89520" y="1965960"/>
            <a:ext cx="1097280" cy="457200"/>
          </a:xfrm>
          <a:prstGeom prst="rightArrow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1691640"/>
            <a:ext cx="2560320" cy="1005840"/>
          </a:xfrm>
          <a:prstGeom prst="roundRect">
            <a:avLst/>
          </a:prstGeom>
          <a:solidFill>
            <a:srgbClr val="2D6A4F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3
查詢結果
自動標記來源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3383280" cy="2286000"/>
          </a:xfrm>
          <a:prstGeom prst="roundRect">
            <a:avLst/>
          </a:prstGeom>
          <a:solidFill>
            <a:srgbClr val="D8F3D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跨年度比較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「113 vs 112 年度稅後淨利變化？」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自動從兩份年報檢索對應數據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結果標記文件來源與頁碼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37560"/>
            <a:ext cx="3383280" cy="2286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跨子公司分析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「各子公司 2024 風險管理策略？」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Entity-Aware 辨識子公司章節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彙整多個子公司對比資訊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337560"/>
            <a:ext cx="3383280" cy="2286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趨勢追蹤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「近三年 ESG 承諾變化？」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多年度資料自動比對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量化指標趨勢分析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Arial"/>
              </a:rPr>
              <a:t>技術：FAISS 索引合併 + Chunk ID 自動重編 + Source Metadata 追蹤 + Parent Document 展開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對內應用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系統可融入法遵、IR、風控、策略四大場景，成為集團知識基礎設施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業務場景分析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29200" cy="1920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01  法遵合規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快速查找監管揭露項目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董事會多元化、資本適足率即時查詢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年報變更追蹤與合規檢核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029200" cy="1920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02  投資人關係 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股東會前快速準備 Q&amp;A 題庫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主管即時查閱數據佐證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年報重點摘要自動生成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5029200" cy="1920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03  風險管理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跨子公司風險類型彙整比較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合規指標追蹤（CAR、逾放比等）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風險事件快速定位相關揭露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40"/>
            <a:ext cx="5029200" cy="1920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04  策略規劃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各子公司發展策略對比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KPI 達成狀況查詢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同業策略比較（搭配多文件功能）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728655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整合路徑：API 串接  →  權限控管  →  部門專屬知識庫  →  集團統一知識平台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對外延伸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將年報知識轉化為投資人服務能力：智能客服、法說會輔助、研究員查詢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業務場景分析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8328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智能客服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投資人對話介面查詢年報數據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7×24 即時回覆，降低客服負擔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答案附來源頁碼，可信度高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支援中文自然語言提問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法說會輔助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自動生成 Q&amp;A 預測題庫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根據年報重點產出建議答案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快速更新簡報數據佐證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主管即時查核財務數據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6A4F"/>
                </a:solidFill>
                <a:latin typeface="Arial"/>
              </a:rPr>
              <a:t>研究員查詢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賣方/買方研究員快速查找數據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多金控比較分析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特定子公司深度資料挖掘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結構化數據提取與整理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10728655" cy="1097280"/>
          </a:xfrm>
          <a:prstGeom prst="round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300" b="1">
                <a:solidFill>
                  <a:srgbClr val="2D6A4F"/>
                </a:solidFill>
                <a:latin typeface="Arial"/>
              </a:rPr>
              <a:t>價值主張</a:t>
            </a:r>
          </a:p>
          <a:p>
            <a:r>
              <a:rPr sz="1200" b="0">
                <a:solidFill>
                  <a:srgbClr val="1B1B1B"/>
                </a:solidFill>
                <a:latin typeface="Arial"/>
              </a:rPr>
              <a:t>從「內部查詢工具」升級為「投資人服務能力」— 提升品牌專業形象，創造差異化競爭優勢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6C757D"/>
                </a:solidFill>
                <a:latin typeface="Arial"/>
              </a:rPr>
              <a:t>技術支撐：多文件查詢 + 實體感知 + 來源追溯 = 可信賴的對外服務基礎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風險與落地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幻覺風險透過雙層護欄控制，定位為「分析師副駕駛」而非完全取代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Source: 系統風險評估框架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965960"/>
            <a:ext cx="2011680" cy="1417320"/>
          </a:xfrm>
          <a:prstGeom prst="roundRect">
            <a:avLst/>
          </a:prstGeom>
          <a:solidFill>
            <a:srgbClr val="FEF3CD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000" b="0">
                <a:solidFill>
                  <a:srgbClr val="1B1B1B"/>
                </a:solidFill>
                <a:latin typeface="Arial"/>
              </a:rPr>
              <a:t>LLM 產生看似合理
的錯誤數字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965960"/>
            <a:ext cx="2011680" cy="1417320"/>
          </a:xfrm>
          <a:prstGeom prst="roundRect">
            <a:avLst/>
          </a:prstGeom>
          <a:solidFill>
            <a:srgbClr val="FCE4E4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000" b="0">
                <a:solidFill>
                  <a:srgbClr val="1B1B1B"/>
                </a:solidFill>
                <a:latin typeface="Arial"/>
              </a:rPr>
              <a:t>使用者未查核
即信任答案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456432"/>
            <a:ext cx="2011680" cy="1417320"/>
          </a:xfrm>
          <a:prstGeom prst="roundRect">
            <a:avLst/>
          </a:prstGeom>
          <a:solidFill>
            <a:srgbClr val="E8F8ED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000" b="0">
                <a:solidFill>
                  <a:srgbClr val="1B1B1B"/>
                </a:solidFill>
                <a:latin typeface="Arial"/>
              </a:rPr>
              <a:t>查詢超出
年報範圍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456432"/>
            <a:ext cx="2011680" cy="1417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1000" b="0">
                <a:solidFill>
                  <a:srgbClr val="1B1B1B"/>
                </a:solidFill>
                <a:latin typeface="Arial"/>
              </a:rPr>
              <a:t>答案格式
微小差異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373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Arial"/>
              </a:rPr>
              <a:t>← 低機率                                        高機率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Arial"/>
              </a:rPr>
              <a:t>高
影
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Arial"/>
              </a:rPr>
              <a:t>低
影
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6A4F"/>
                </a:solidFill>
                <a:latin typeface="Arial"/>
              </a:rPr>
              <a:t>緩解機制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94560"/>
            <a:ext cx="54864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130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Arial"/>
              </a:rPr>
              <a:t>雙層幻覺防護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Relevance Threshold + Grounding Check 雙重攔截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971800"/>
            <a:ext cx="54864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9077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Arial"/>
              </a:rPr>
              <a:t>來源可追溯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每個答案附頁碼，一鍵查核原文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749040"/>
            <a:ext cx="54864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685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Arial"/>
              </a:rPr>
              <a:t>風險等級指示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LOW / MEDIUM / HIGH 視覺化標示，高風險自動拒答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526280"/>
            <a:ext cx="54864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4622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Arial"/>
              </a:rPr>
              <a:t>競爭對手攔截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偵測國泰/中信/玉山相關問題，自動阻擋範圍外查詢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03520"/>
            <a:ext cx="54864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239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Arial"/>
              </a:rPr>
              <a:t>部署定位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「分析師副駕駛」— 系統草擬答案，人工審核後對外使用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未來方向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Arial"/>
              </a:rPr>
              <a:t>三階段演進：API 服務化 → Agent 自動化 → 主動知識服務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10424160" cy="548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31720" y="1655064"/>
            <a:ext cx="228600" cy="228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73152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03120"/>
            <a:ext cx="3218688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1B1B1B"/>
                </a:solidFill>
                <a:latin typeface="Arial"/>
              </a:rPr>
              <a:t>Phase 1  短期  —  API 服務化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329184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REST API 串接內部工具與 BI 平台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排程批次處理分析師問題集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新年報上架自動重建索引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權限控管與使用量追蹤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655064"/>
            <a:ext cx="228600" cy="22860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73152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103120"/>
            <a:ext cx="3218688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1B1B1B"/>
                </a:solidFill>
                <a:latin typeface="Arial"/>
              </a:rPr>
              <a:t>Phase 2  中期  —  Agent 自動化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834640"/>
            <a:ext cx="329184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複雜問題自動拆解、多步推理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整合計算工具（財務比率、圖表）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串接外部資料（Bloomberg、CRM）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Multi-turn 對話記憶</a:t>
            </a:r>
          </a:p>
        </p:txBody>
      </p:sp>
      <p:sp>
        <p:nvSpPr>
          <p:cNvPr id="16" name="Oval 15"/>
          <p:cNvSpPr/>
          <p:nvPr/>
        </p:nvSpPr>
        <p:spPr>
          <a:xfrm>
            <a:off x="9555480" y="1655064"/>
            <a:ext cx="228600" cy="228600"/>
          </a:xfrm>
          <a:prstGeom prst="ellipse">
            <a:avLst/>
          </a:prstGeom>
          <a:solidFill>
            <a:srgbClr val="6CA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73152" cy="594360"/>
          </a:xfrm>
          <a:prstGeom prst="rect">
            <a:avLst/>
          </a:prstGeom>
          <a:solidFill>
            <a:srgbClr val="6CA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3218688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200" b="1">
                <a:solidFill>
                  <a:srgbClr val="1B1B1B"/>
                </a:solidFill>
                <a:latin typeface="Arial"/>
              </a:rPr>
              <a:t>Phase 3  長期  —  主動知識服務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34640"/>
            <a:ext cx="329184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ctr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監管申報變更自動警示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自動產出同業比較報告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知識圖譜建構與實體關聯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B1B1B"/>
                </a:solidFill>
                <a:latin typeface="Arial"/>
              </a:rPr>
              <a:t>•  推播式年報重大變化通知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916C"/>
                </a:solidFill>
                <a:latin typeface="Arial"/>
              </a:rPr>
              <a:t>被動查詢  ─────────────────────────→  主動知識服務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D6A4F"/>
                </a:solidFill>
                <a:latin typeface="Arial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C757D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1828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Arial"/>
              </a:rPr>
              <a:t>[您的姓名]   |   富邦金控數據科學組 MA 甄選   | 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Arial"/>
              </a:rPr>
              <a:t>延伸討論：如何應用於即時法說會逐字稿？多語言年報擴展？與現有文管系統整合？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